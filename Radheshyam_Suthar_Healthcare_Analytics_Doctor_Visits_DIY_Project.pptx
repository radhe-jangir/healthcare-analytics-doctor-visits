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033" autoAdjust="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0" y="1600200"/>
            <a:ext cx="45720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1414"/>
                </a:solidFill>
                <a:latin typeface="Aptos"/>
              </a:rPr>
              <a:t>Healthcare Analytics for
Doctor Visits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379476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41414"/>
                </a:solidFill>
                <a:latin typeface="Aptos"/>
              </a:rPr>
              <a:t>Radheshyam Suthar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43434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Aptos"/>
              </a:rPr>
              <a:t>DIY Project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" y="45720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Aptos"/>
              </a:rPr>
              <a:t>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508760"/>
            <a:ext cx="7498079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232323"/>
                </a:solidFill>
                <a:latin typeface="Aptos"/>
              </a:rPr>
              <a:t>Doctor-visit data contains demographic, health, illness, activity-reduction, income, healthcare-access and chronic-condition indicators. The project analyzes these variables to identify measurable patterns in recorded doctor visits and summarize statistically supported relationships in the dataset.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9736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777AB"/>
                </a:solidFill>
                <a:latin typeface="Aptos"/>
              </a:rPr>
              <a:t>Key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398" y="4434840"/>
            <a:ext cx="3094265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323232"/>
                </a:solidFill>
                <a:latin typeface="Aptos"/>
              </a:rPr>
              <a:t>• Visit distribution
• Demographic patterns
• Health &amp; illness
• Access indicators
• Statistical evidence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436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0F0F"/>
                </a:solidFill>
                <a:latin typeface="Aptos"/>
              </a:rPr>
              <a:t>Project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7955279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82828"/>
                </a:solidFill>
                <a:latin typeface="Aptos"/>
              </a:rPr>
              <a:t>This project performs exploratory and statistical analysis on 5,190 healthcare records. The workflow includes data-quality checks, univariate and bivariate analysis, health/illness and access comparisons, Spearman correlation, non-parametric tests, and an exploratory Poisson count-regression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777AB"/>
                </a:solidFill>
                <a:latin typeface="Aptos"/>
              </a:rPr>
              <a:t>Analytical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813816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D2D2D"/>
                </a:solidFill>
                <a:latin typeface="Aptos"/>
              </a:rPr>
              <a:t>• How do visits vary by gender and age?</a:t>
            </a:r>
            <a:endParaRPr lang="en-US" sz="1600" b="0" dirty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600" b="0" dirty="0">
                <a:solidFill>
                  <a:srgbClr val="2D2D2D"/>
                </a:solidFill>
                <a:latin typeface="Aptos"/>
              </a:rPr>
              <a:t>• How are illness, health and reduced activity related to visits?</a:t>
            </a:r>
            <a:endParaRPr lang="en-US" sz="1600" b="0" dirty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600" b="0" dirty="0">
                <a:solidFill>
                  <a:srgbClr val="2D2D2D"/>
                </a:solidFill>
                <a:latin typeface="Aptos"/>
              </a:rPr>
              <a:t>• Do access/chronic indicators differ in recorded visits?</a:t>
            </a:r>
            <a:endParaRPr lang="en-US" sz="1600" b="0" dirty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600" b="0" dirty="0">
                <a:solidFill>
                  <a:srgbClr val="2D2D2D"/>
                </a:solidFill>
                <a:latin typeface="Aptos"/>
              </a:rPr>
              <a:t>• Which relationships are statistically detectable?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85800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A0A0A"/>
                </a:solidFill>
                <a:latin typeface="Aptos"/>
              </a:rPr>
              <a:t>WHO ARE THE END USERS?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6002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2777AB"/>
                </a:solidFill>
                <a:latin typeface="Aptos"/>
              </a:rPr>
              <a:t>Healthcare analysts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160020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Aptos"/>
              </a:rPr>
              <a:t>Explore utilization patterns and subgroup differences.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5146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77AB"/>
                </a:solidFill>
                <a:latin typeface="Aptos"/>
              </a:rPr>
              <a:t>Public health planners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51460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Aptos"/>
              </a:rPr>
              <a:t>Review descriptive patterns for planning and monitoring.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4290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77AB"/>
                </a:solidFill>
                <a:latin typeface="Aptos"/>
              </a:rPr>
              <a:t>Healthcare researchers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42900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Aptos"/>
              </a:rPr>
              <a:t>Use the dataset for exploratory statistical analysis.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434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77AB"/>
                </a:solidFill>
                <a:latin typeface="Aptos"/>
              </a:rPr>
              <a:t>Healthcare managers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34340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73737"/>
                </a:solidFill>
                <a:latin typeface="Aptos"/>
              </a:rPr>
              <a:t>Understand recorded visit patterns across patient indicators.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41148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Aptos"/>
              </a:rPr>
              <a:t>Technology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417320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77AB"/>
                </a:solidFill>
                <a:latin typeface="Apto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1417320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Aptos"/>
              </a:rPr>
              <a:t>Core analysis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039112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77AB"/>
                </a:solidFill>
                <a:latin typeface="Aptos"/>
              </a:rPr>
              <a:t>Pandas &amp; NumPy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039112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Aptos"/>
              </a:rPr>
              <a:t>Data loading, cleaning and transformation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660904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77AB"/>
                </a:solidFill>
                <a:latin typeface="Aptos"/>
              </a:rPr>
              <a:t>Matplotlib &amp; Seaborn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660904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Aptos"/>
              </a:rPr>
              <a:t>Charts and exploratory visualization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282696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77AB"/>
                </a:solidFill>
                <a:latin typeface="Aptos"/>
              </a:rPr>
              <a:t>SciPy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282696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Aptos"/>
              </a:rPr>
              <a:t>Spearman, Mann–Whitney U and Kruskal–Wallis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04488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77AB"/>
                </a:solidFill>
                <a:latin typeface="Aptos"/>
              </a:rPr>
              <a:t>Statsmodels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904488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Aptos"/>
              </a:rPr>
              <a:t>Poisson GLM / count regression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26280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77AB"/>
                </a:solidFill>
                <a:latin typeface="Aptos"/>
              </a:rPr>
              <a:t>Jupyter / Google Colab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526280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Aptos"/>
              </a:rPr>
              <a:t>Notebook-based execution and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594360" y="32004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A0A0A"/>
                </a:solidFill>
                <a:latin typeface="Aptos"/>
              </a:rPr>
              <a:t>RESULTS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1005840"/>
            <a:ext cx="1965960" cy="777240"/>
          </a:xfrm>
          <a:prstGeom prst="roundRect">
            <a:avLst/>
          </a:prstGeom>
          <a:solidFill>
            <a:srgbClr val="EBF6FC"/>
          </a:solidFill>
          <a:ln>
            <a:solidFill>
              <a:srgbClr val="B4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777AB"/>
                </a:solidFill>
              </a:rPr>
              <a:t>5,190</a:t>
            </a:r>
          </a:p>
          <a:p>
            <a:pPr algn="ctr"/>
            <a:r>
              <a:rPr sz="1000">
                <a:solidFill>
                  <a:srgbClr val="464646"/>
                </a:solidFill>
              </a:rPr>
              <a:t>records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34640" y="1005840"/>
            <a:ext cx="1965960" cy="777240"/>
          </a:xfrm>
          <a:prstGeom prst="roundRect">
            <a:avLst/>
          </a:prstGeom>
          <a:solidFill>
            <a:srgbClr val="EBF6FC"/>
          </a:solidFill>
          <a:ln>
            <a:solidFill>
              <a:srgbClr val="B4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777AB"/>
                </a:solidFill>
              </a:rPr>
              <a:t>13</a:t>
            </a:r>
          </a:p>
          <a:p>
            <a:pPr algn="ctr"/>
            <a:r>
              <a:rPr sz="1000">
                <a:solidFill>
                  <a:srgbClr val="464646"/>
                </a:solidFill>
              </a:rPr>
              <a:t>supplied columns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1005840"/>
            <a:ext cx="1965960" cy="777240"/>
          </a:xfrm>
          <a:prstGeom prst="roundRect">
            <a:avLst/>
          </a:prstGeom>
          <a:solidFill>
            <a:srgbClr val="EBF6FC"/>
          </a:solidFill>
          <a:ln>
            <a:solidFill>
              <a:srgbClr val="B4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777AB"/>
                </a:solidFill>
              </a:rPr>
              <a:t>79.79%</a:t>
            </a:r>
          </a:p>
          <a:p>
            <a:pPr algn="ctr"/>
            <a:r>
              <a:rPr sz="1000">
                <a:solidFill>
                  <a:srgbClr val="464646"/>
                </a:solidFill>
              </a:rPr>
              <a:t>zero-visit records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1005840"/>
            <a:ext cx="1965960" cy="777240"/>
          </a:xfrm>
          <a:prstGeom prst="roundRect">
            <a:avLst/>
          </a:prstGeom>
          <a:solidFill>
            <a:srgbClr val="EBF6FC"/>
          </a:solidFill>
          <a:ln>
            <a:solidFill>
              <a:srgbClr val="B4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777AB"/>
                </a:solidFill>
              </a:rPr>
              <a:t>0</a:t>
            </a:r>
          </a:p>
          <a:p>
            <a:pPr algn="ctr"/>
            <a:r>
              <a:rPr sz="1000">
                <a:solidFill>
                  <a:srgbClr val="464646"/>
                </a:solidFill>
              </a:rPr>
              <a:t>missing values</a:t>
            </a:r>
          </a:p>
        </p:txBody>
      </p:sp>
      <p:pic>
        <p:nvPicPr>
          <p:cNvPr id="36" name="Picture 35" descr="gender_m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3657600" cy="2378404"/>
          </a:xfrm>
          <a:prstGeom prst="rect">
            <a:avLst/>
          </a:prstGeom>
        </p:spPr>
      </p:pic>
      <p:pic>
        <p:nvPicPr>
          <p:cNvPr id="37" name="Picture 36" descr="illness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965960"/>
            <a:ext cx="3657600" cy="227065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391252" y="2506436"/>
            <a:ext cx="3343561" cy="22082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2D2D2D"/>
                </a:solidFill>
                <a:latin typeface="Aptos"/>
              </a:rPr>
              <a:t>• Female records: mean visits 0.362 vs 0.236 for male records.
• Activity reduction has the strongest positive Spearman association with visits (ρ=0.336).
• Illness is also positively associated with visits (ρ=0.263).
• Long-term chronic condition: mean visits 0.603 (yes) vs 0.262 (no).
• Private-insurance comparison was not statistically significant (Mann–Whitney p=0.762).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128" y="5623560"/>
            <a:ext cx="5029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dirty="0">
                <a:solidFill>
                  <a:srgbClr val="2777AB"/>
                </a:solidFill>
                <a:latin typeface="Aptos"/>
              </a:rPr>
              <a:t>Demo Link</a:t>
            </a:r>
            <a:r>
              <a:rPr lang="en-US" sz="1100" dirty="0">
                <a:solidFill>
                  <a:srgbClr val="2777AB"/>
                </a:solidFill>
                <a:latin typeface="Aptos"/>
              </a:rPr>
              <a:t> : https://github.com/Radhe-jangir/healthcare-analytics-doctor-visits</a:t>
            </a:r>
            <a:endParaRPr sz="1100" b="0" dirty="0">
              <a:solidFill>
                <a:srgbClr val="2777AB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29640" y="2497976"/>
            <a:ext cx="10332720" cy="1862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0" b="1" dirty="0">
                <a:solidFill>
                  <a:srgbClr val="0A0A0A"/>
                </a:solidFill>
                <a:latin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553</TotalTime>
  <Words>361</Words>
  <Application>Microsoft Office PowerPoint</Application>
  <PresentationFormat>Widescreen</PresentationFormat>
  <Paragraphs>49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RADHESHYAM SUTHAR</cp:lastModifiedBy>
  <cp:revision>74</cp:revision>
  <dcterms:created xsi:type="dcterms:W3CDTF">2021-07-11T13:13:15Z</dcterms:created>
  <dcterms:modified xsi:type="dcterms:W3CDTF">2026-09-23T20:49:34Z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